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456256154842db" /><Relationship Type="http://schemas.openxmlformats.org/officeDocument/2006/relationships/extended-properties" Target="/docProps/app.xml" Id="R3d6e0f6869104e84" /><Relationship Type="http://schemas.openxmlformats.org/officeDocument/2006/relationships/officeDocument" Target="/ppt/presentation.xml" Id="Rf9bc2229698544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c1a930e5f34f09"/>
  </p:sldMasterIdLst>
  <p:notesMasterIdLst>
    <p:notesMasterId xmlns:r="http://schemas.openxmlformats.org/officeDocument/2006/relationships" r:id="Rfdc1b721d7574383"/>
  </p:notesMasterIdLst>
  <p:sldIdLst>
    <p:sldId xmlns:r="http://schemas.openxmlformats.org/officeDocument/2006/relationships" id="256" r:id="Rb11cc1fa20b441aa"/>
    <p:sldId xmlns:r="http://schemas.openxmlformats.org/officeDocument/2006/relationships" id="257" r:id="R086be30ec63948ea"/>
    <p:sldId xmlns:r="http://schemas.openxmlformats.org/officeDocument/2006/relationships" id="258" r:id="Rfa84abfa0fec4327"/>
    <p:sldId xmlns:r="http://schemas.openxmlformats.org/officeDocument/2006/relationships" id="259" r:id="R1d150d7ca6624e68"/>
    <p:sldId xmlns:r="http://schemas.openxmlformats.org/officeDocument/2006/relationships" id="260" r:id="R8606e7030d944a64"/>
    <p:sldId xmlns:r="http://schemas.openxmlformats.org/officeDocument/2006/relationships" id="261" r:id="Rd713dd04eaa54609"/>
    <p:sldId xmlns:r="http://schemas.openxmlformats.org/officeDocument/2006/relationships" id="262" r:id="R7a927852f3e844f0"/>
    <p:sldId xmlns:r="http://schemas.openxmlformats.org/officeDocument/2006/relationships" id="263" r:id="R51a931cb27f24f7a"/>
    <p:sldId xmlns:r="http://schemas.openxmlformats.org/officeDocument/2006/relationships" id="264" r:id="R83f3836db1bf4ae8"/>
    <p:sldId xmlns:r="http://schemas.openxmlformats.org/officeDocument/2006/relationships" id="265" r:id="R63af99f1fab94b31"/>
    <p:sldId xmlns:r="http://schemas.openxmlformats.org/officeDocument/2006/relationships" id="266" r:id="R59c7e30159d94854"/>
    <p:sldId xmlns:r="http://schemas.openxmlformats.org/officeDocument/2006/relationships" id="267" r:id="R1500ec936d8b441b"/>
    <p:sldId xmlns:r="http://schemas.openxmlformats.org/officeDocument/2006/relationships" id="268" r:id="R58a8e7b289fc48c1"/>
    <p:sldId xmlns:r="http://schemas.openxmlformats.org/officeDocument/2006/relationships" id="269" r:id="R707cd541908f49ee"/>
    <p:sldId xmlns:r="http://schemas.openxmlformats.org/officeDocument/2006/relationships" id="270" r:id="R083062fed9ac4cf5"/>
    <p:sldId xmlns:r="http://schemas.openxmlformats.org/officeDocument/2006/relationships" id="271" r:id="Ra978615f2dbd4e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fb405d1e1448d7" /><Relationship Type="http://schemas.openxmlformats.org/officeDocument/2006/relationships/slideMaster" Target="/ppt/slideMasters/slideMaster1.xml" Id="R21c1a930e5f34f09" /><Relationship Type="http://schemas.openxmlformats.org/officeDocument/2006/relationships/notesMaster" Target="/ppt/notesMasters/notesMaster1.xml" Id="Rfdc1b721d7574383" /><Relationship Type="http://schemas.openxmlformats.org/officeDocument/2006/relationships/presProps" Target="/ppt/presProps.xml" Id="Rfd6edab0f54143be" /><Relationship Type="http://schemas.openxmlformats.org/officeDocument/2006/relationships/tableStyles" Target="/ppt/tableStyles.xml" Id="R23dac13c99a944e0" /><Relationship Type="http://schemas.openxmlformats.org/officeDocument/2006/relationships/slide" Target="/ppt/slides/slide1.xml" Id="Rb11cc1fa20b441aa" /><Relationship Type="http://schemas.openxmlformats.org/officeDocument/2006/relationships/slide" Target="/ppt/slides/slide2.xml" Id="R086be30ec63948ea" /><Relationship Type="http://schemas.openxmlformats.org/officeDocument/2006/relationships/slide" Target="/ppt/slides/slide3.xml" Id="Rfa84abfa0fec4327" /><Relationship Type="http://schemas.openxmlformats.org/officeDocument/2006/relationships/slide" Target="/ppt/slides/slide4.xml" Id="R1d150d7ca6624e68" /><Relationship Type="http://schemas.openxmlformats.org/officeDocument/2006/relationships/slide" Target="/ppt/slides/slide5.xml" Id="R8606e7030d944a64" /><Relationship Type="http://schemas.openxmlformats.org/officeDocument/2006/relationships/slide" Target="/ppt/slides/slide6.xml" Id="Rd713dd04eaa54609" /><Relationship Type="http://schemas.openxmlformats.org/officeDocument/2006/relationships/slide" Target="/ppt/slides/slide7.xml" Id="R7a927852f3e844f0" /><Relationship Type="http://schemas.openxmlformats.org/officeDocument/2006/relationships/slide" Target="/ppt/slides/slide8.xml" Id="R51a931cb27f24f7a" /><Relationship Type="http://schemas.openxmlformats.org/officeDocument/2006/relationships/slide" Target="/ppt/slides/slide9.xml" Id="R83f3836db1bf4ae8" /><Relationship Type="http://schemas.openxmlformats.org/officeDocument/2006/relationships/slide" Target="/ppt/slides/slide10.xml" Id="R63af99f1fab94b31" /><Relationship Type="http://schemas.openxmlformats.org/officeDocument/2006/relationships/slide" Target="/ppt/slides/slide11.xml" Id="R59c7e30159d94854" /><Relationship Type="http://schemas.openxmlformats.org/officeDocument/2006/relationships/slide" Target="/ppt/slides/slide12.xml" Id="R1500ec936d8b441b" /><Relationship Type="http://schemas.openxmlformats.org/officeDocument/2006/relationships/slide" Target="/ppt/slides/slide13.xml" Id="R58a8e7b289fc48c1" /><Relationship Type="http://schemas.openxmlformats.org/officeDocument/2006/relationships/slide" Target="/ppt/slides/slide14.xml" Id="R707cd541908f49ee" /><Relationship Type="http://schemas.openxmlformats.org/officeDocument/2006/relationships/slide" Target="/ppt/slides/slide15.xml" Id="R083062fed9ac4cf5" /><Relationship Type="http://schemas.openxmlformats.org/officeDocument/2006/relationships/slide" Target="/ppt/slides/slide16.xml" Id="Ra978615f2dbd4e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83eaf42c2948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1d100d0d3a48c8" /><Relationship Type="http://schemas.openxmlformats.org/officeDocument/2006/relationships/notesMaster" Target="/ppt/notesMasters/notesMaster1.xml" Id="R1eb1c0bc1db447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8acc36b1b34183" /><Relationship Type="http://schemas.openxmlformats.org/officeDocument/2006/relationships/notesMaster" Target="/ppt/notesMasters/notesMaster1.xml" Id="R8f2315633b8846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42a8e0b9e04a53" /><Relationship Type="http://schemas.openxmlformats.org/officeDocument/2006/relationships/notesMaster" Target="/ppt/notesMasters/notesMaster1.xml" Id="R6c7f0d8ce04a47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dd21ffb134b8c" /><Relationship Type="http://schemas.openxmlformats.org/officeDocument/2006/relationships/notesMaster" Target="/ppt/notesMasters/notesMaster1.xml" Id="Rdbe2895efe7443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fbc78fff0a485d" /><Relationship Type="http://schemas.openxmlformats.org/officeDocument/2006/relationships/notesMaster" Target="/ppt/notesMasters/notesMaster1.xml" Id="R82ab9370a9e244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aead78c9f49e2" /><Relationship Type="http://schemas.openxmlformats.org/officeDocument/2006/relationships/notesMaster" Target="/ppt/notesMasters/notesMaster1.xml" Id="Rd4dca502e62f43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85aec4690f4ea6" /><Relationship Type="http://schemas.openxmlformats.org/officeDocument/2006/relationships/notesMaster" Target="/ppt/notesMasters/notesMaster1.xml" Id="R4579ec93071f4e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786fa206fc430e" /><Relationship Type="http://schemas.openxmlformats.org/officeDocument/2006/relationships/notesMaster" Target="/ppt/notesMasters/notesMaster1.xml" Id="R03e8bfd824be41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f0d1a748674356" /><Relationship Type="http://schemas.openxmlformats.org/officeDocument/2006/relationships/notesMaster" Target="/ppt/notesMasters/notesMaster1.xml" Id="Ra2f799021fc245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1a67a20aff4b8b" /><Relationship Type="http://schemas.openxmlformats.org/officeDocument/2006/relationships/notesMaster" Target="/ppt/notesMasters/notesMaster1.xml" Id="R8cecc07e95474a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2e7fce03ba4fcc" /><Relationship Type="http://schemas.openxmlformats.org/officeDocument/2006/relationships/notesMaster" Target="/ppt/notesMasters/notesMaster1.xml" Id="R66d6ce30832f43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3f8a1045de4cec" /><Relationship Type="http://schemas.openxmlformats.org/officeDocument/2006/relationships/notesMaster" Target="/ppt/notesMasters/notesMaster1.xml" Id="Rd06b786a6d6641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671826ee07489f" /><Relationship Type="http://schemas.openxmlformats.org/officeDocument/2006/relationships/notesMaster" Target="/ppt/notesMasters/notesMaster1.xml" Id="Rb00156e35af14b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662f496e8a4dd5" /><Relationship Type="http://schemas.openxmlformats.org/officeDocument/2006/relationships/notesMaster" Target="/ppt/notesMasters/notesMaster1.xml" Id="R1212cd0c56c94f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7a0e8577a14bfb" /><Relationship Type="http://schemas.openxmlformats.org/officeDocument/2006/relationships/notesMaster" Target="/ppt/notesMasters/notesMaster1.xml" Id="R59825ecda93244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d59933efd84868" /><Relationship Type="http://schemas.openxmlformats.org/officeDocument/2006/relationships/notesMaster" Target="/ppt/notesMasters/notesMaster1.xml" Id="R19427e63a5de42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38dbb21034e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027862f1454cb9" /><Relationship Type="http://schemas.openxmlformats.org/officeDocument/2006/relationships/slideLayout" Target="/ppt/slideLayouts/slideLayout1.xml" Id="Refd9b19625bc42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9b19625bc42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70344360f4f7e" /><Relationship Type="http://schemas.openxmlformats.org/officeDocument/2006/relationships/image" Target="/ppt/media/image.png" Id="R4e6f8ba1ddd04927" /><Relationship Type="http://schemas.openxmlformats.org/officeDocument/2006/relationships/notesSlide" Target="/ppt/notesSlides/notesSlide1.xml" Id="Rd94d0a49b0ce41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b7da3d6524f81" /><Relationship Type="http://schemas.openxmlformats.org/officeDocument/2006/relationships/notesSlide" Target="/ppt/notesSlides/notesSlide2.xml" Id="R704ac204cc2d42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269413ebe4055" /><Relationship Type="http://schemas.openxmlformats.org/officeDocument/2006/relationships/notesSlide" Target="/ppt/notesSlides/notesSlide3.xml" Id="R224b6913bdac4f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6e463cc024562" /><Relationship Type="http://schemas.openxmlformats.org/officeDocument/2006/relationships/notesSlide" Target="/ppt/notesSlides/notesSlide4.xml" Id="R8ce9a876009b46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cf7ae5ceb4032" /><Relationship Type="http://schemas.openxmlformats.org/officeDocument/2006/relationships/notesSlide" Target="/ppt/notesSlides/notesSlide5.xml" Id="R89a0357979c343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22ff730fe400f" /><Relationship Type="http://schemas.openxmlformats.org/officeDocument/2006/relationships/notesSlide" Target="/ppt/notesSlides/notesSlide6.xml" Id="R6fea2ec702f64b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21be9225e4a50" /><Relationship Type="http://schemas.openxmlformats.org/officeDocument/2006/relationships/notesSlide" Target="/ppt/notesSlides/notesSlide7.xml" Id="R0069018f12ac41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65db832dc4962" /><Relationship Type="http://schemas.openxmlformats.org/officeDocument/2006/relationships/notesSlide" Target="/ppt/notesSlides/notesSlide8.xml" Id="R9c97f67adb3a43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03d34d67e49f3" /><Relationship Type="http://schemas.openxmlformats.org/officeDocument/2006/relationships/notesSlide" Target="/ppt/notesSlides/notesSlide9.xml" Id="R93e61e9e58af4b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72aa2f46e4845" /><Relationship Type="http://schemas.openxmlformats.org/officeDocument/2006/relationships/notesSlide" Target="/ppt/notesSlides/notesSlide10.xml" Id="R848fb573cc6047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ca3469a074ada" /><Relationship Type="http://schemas.openxmlformats.org/officeDocument/2006/relationships/notesSlide" Target="/ppt/notesSlides/notesSlide11.xml" Id="R72889ad8c1c946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c29a302be421f" /><Relationship Type="http://schemas.openxmlformats.org/officeDocument/2006/relationships/notesSlide" Target="/ppt/notesSlides/notesSlide12.xml" Id="R6735fee5d8bf4d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a525a394a40db" /><Relationship Type="http://schemas.openxmlformats.org/officeDocument/2006/relationships/notesSlide" Target="/ppt/notesSlides/notesSlide13.xml" Id="Rbba6c6d79e7247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fc3c694e849d0" /><Relationship Type="http://schemas.openxmlformats.org/officeDocument/2006/relationships/chart" Target="/ppt/slides/charts/chart1.xml" Id="R7c69e4cda5b44bce" /><Relationship Type="http://schemas.openxmlformats.org/officeDocument/2006/relationships/notesSlide" Target="/ppt/notesSlides/notesSlide14.xml" Id="Reae2d11ce70949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7390345f34795" /><Relationship Type="http://schemas.openxmlformats.org/officeDocument/2006/relationships/notesSlide" Target="/ppt/notesSlides/notesSlide15.xml" Id="Rc69c8dea08c740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6d469862f49f5" /><Relationship Type="http://schemas.openxmlformats.org/officeDocument/2006/relationships/notesSlide" Target="/ppt/notesSlides/notesSlide16.xml" Id="R55116811053b48b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Validated areas</c:v>
          </c:tx>
          <c:spPr>
            <a:solidFill xmlns:a="http://schemas.openxmlformats.org/drawingml/2006/main">
              <a:srgbClr val="246BFE"/>
            </a:solidFill>
          </c:spPr>
          <c:cat>
            <c:strLit>
              <c:ptCount val="5"/>
              <c:pt idx="0">
                <c:v>Crop</c:v>
              </c:pt>
              <c:pt idx="1">
                <c:v>Price</c:v>
              </c:pt>
              <c:pt idx="2">
                <c:v>Live APIs</c:v>
              </c:pt>
              <c:pt idx="3">
                <c:v>Chat</c:v>
              </c:pt>
              <c:pt idx="4">
                <c:v>API</c:v>
              </c:pt>
            </c:strLit>
          </c:cat>
          <c:val>
            <c:numLit>
              <c:formatCode>General</c:formatCode>
              <c:ptCount val="5"/>
              <c:pt idx="0">
                <c:v>4</c:v>
              </c:pt>
              <c:pt idx="1">
                <c:v>3</c:v>
              </c:pt>
              <c:pt idx="2">
                <c:v>4</c:v>
              </c:pt>
              <c:pt idx="3">
                <c:v>3</c:v>
              </c:pt>
              <c:pt idx="4">
                <c:v>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D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f8ba1ddd0492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52831-E24A-42A6-93B2-B0C1BAD8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35865-53CC-44C5-AFFC-65FD6C9A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0" cy="28575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BFD3B-0F0D-4369-A6E6-D00C00A3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AgroPredict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46011-3D0E-4B3A-BE7C-468270C6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AI Crop Prediction, Live Price Forecasting and Multilingual Kisan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3CDD8-EE5C-4319-B883-FDFF5C6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0962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003F5-3780-4BAB-8736-C37B26C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Final Year Project | React + Node.js + SQLite + OpenRouter + Hugging Face + Open-Meteo + data.gov.in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D7D44-F95E-4EA0-AF3D-79A9A15B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11439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FC3D0-2EEB-4739-BE2D-E8C73625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202A4-57A7-4E8C-BBB5-0A248DE8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Why farmers need a smarter decision support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FB0C4-B784-4667-A77E-82A55158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F5F34-0B6D-4E18-A13C-5230AF6F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3F1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6CA54-E6C7-4012-ACF3-6AC4DDE0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9525">
            <a:solidFill>
              <a:srgbClr val="B94A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576D3-F3AC-4D9B-8AA3-07F8B5DD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Current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95E10-CE7B-4333-B869-38F463E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7241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Crop choice often depends on habit, local guesses or partial advice. Soil, weather, water and market price are rarely analyzed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F3720-378F-487E-AB08-8BEA73F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EB20D-60D2-4288-BEFF-3C5BD5B1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60B39-F7FA-4688-BB2B-C344E2C7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00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Project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65D54-53E6-46BD-AFF8-E774162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62200"/>
            <a:ext cx="27241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Build one system where a farmer can enter farm details, get crop recommendations, check price outlook and ask farming questions.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50DA9-5937-4A27-8A28-3FB0D2C4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67E18-2552-496F-A043-A770B048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F8780-C882-4259-9296-CD0F0B5D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Expected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C8CB1-3D00-446A-8324-83660FD7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62200"/>
            <a:ext cx="27241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The app gives faster, explainable and practical guidance for crop planning, price awareness and farm management.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8035A-D7E5-4337-B2E8-15433BCD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449"/>
                </a:solidFill>
              </a:defRPr>
            </a:pPr>
            <a:r>
              <a:rPr sz="1725" b="1">
                <a:solidFill>
                  <a:srgbClr val="167449"/>
                </a:solidFill>
              </a:rPr>
              <a:t>Central takeaway: AgroPredict AI is not just a chatbot; it is a full workflow for farm decision support.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218C7-8970-4B41-B555-AE494293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6084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FFFB9-429D-4F33-973E-46B6644B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26846-165C-4885-9FA8-0B821D57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Project objectives are practical and demo-ready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547CE-2499-4E1A-B0F4-1E902707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5A11B-C009-4DAE-BD0C-4D20100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95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9A5C6-7309-49FD-9843-0B694781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9750"/>
            <a:ext cx="976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A31"/>
                </a:solidFill>
              </a:defRPr>
            </a:pPr>
            <a:r>
              <a:rPr sz="1725" b="0">
                <a:solidFill>
                  <a:srgbClr val="2D3A31"/>
                </a:solidFill>
              </a:rPr>
              <a:t>Recommend suitable crops using farm soil, season, water, pH, NPK and weather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24F2E-6BC9-486C-86B6-B2D5CDB9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E3656-6DD4-4395-BBA6-1E379BBB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976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A31"/>
                </a:solidFill>
              </a:defRPr>
            </a:pPr>
            <a:r>
              <a:rPr sz="1725" b="0">
                <a:solidFill>
                  <a:srgbClr val="2D3A31"/>
                </a:solidFill>
              </a:rPr>
              <a:t>Estimate crop price and revenue using live mandi data where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68D47-0F86-4162-B437-947A7435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ED818-CAB2-4655-AE90-53ABBF8F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90850"/>
            <a:ext cx="976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A31"/>
                </a:solidFill>
              </a:defRPr>
            </a:pPr>
            <a:r>
              <a:rPr sz="1725" b="0">
                <a:solidFill>
                  <a:srgbClr val="2D3A31"/>
                </a:solidFill>
              </a:rPr>
              <a:t>Provide a multilingual Kisan AI assistant for English, Hindi and Gujarati.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6AD77-487B-4613-9D3A-6F59209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70BF0-21E6-4E4C-B10A-7642F2B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81400"/>
            <a:ext cx="976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A31"/>
                </a:solidFill>
              </a:defRPr>
            </a:pPr>
            <a:r>
              <a:rPr sz="1725" b="0">
                <a:solidFill>
                  <a:srgbClr val="2D3A31"/>
                </a:solidFill>
              </a:rPr>
              <a:t>Save farms, predictions, price records and chat history in a real database.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93592-26DA-49E4-8C05-A0403EC3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519F5-9E32-4506-8BDD-ABB2CEB2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71950"/>
            <a:ext cx="976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A31"/>
                </a:solidFill>
              </a:defRPr>
            </a:pPr>
            <a:r>
              <a:rPr sz="1725" b="0">
                <a:solidFill>
                  <a:srgbClr val="2D3A31"/>
                </a:solidFill>
              </a:rPr>
              <a:t>Provide an admin panel for monitoring project records and logs.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30602-7F07-42EB-8272-4F7B0436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73071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21D52E-0D4C-423E-89E6-3517D26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6C859-7140-49A9-B12A-C99BDF64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Main UI modules and what each one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79775-2676-4F09-A8A4-CE6390A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37E6B-1E24-4873-8DF5-1D24D110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34CE0-64C6-44B7-9055-5C283395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2AD0C-9075-43EB-BD2E-18229757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1ADF6-BEBB-4AC5-BC3D-4E77C2CA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819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Shows project overview, telemetry, cards and analytics for quick scanning.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3E2CA-07D4-4EB8-9B4E-97583C73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A0C53-818B-450C-92F1-1207A3BD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CAD0C-1A0D-4786-949E-4180498A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05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My Farm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CCFB5-3174-4D80-BCC6-9E1295F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819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Stores city, district, state, soil, pH, NPK, water source and irrigation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AC575-4EE9-4452-8DE9-47F67DB8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E5748-BAB7-4198-B24E-5268A32A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32A"/>
          </a:solidFill>
          <a:ln xmlns:a="http://schemas.openxmlformats.org/drawingml/2006/main" w="9525">
            <a:solidFill>
              <a:srgbClr val="D593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72042-9E2F-41CD-B92C-E6CB3A24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05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Predict Crops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7DCFE-C608-4E66-A57E-AFC8CB38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819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Ranks crops and explains suitability reasons with live weather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22798-9BFF-4A9D-A9AB-452A11D3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AF4E0-2850-4F1F-898F-5686572B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32A"/>
          </a:solidFill>
          <a:ln xmlns:a="http://schemas.openxmlformats.org/drawingml/2006/main" w="9525">
            <a:solidFill>
              <a:srgbClr val="D59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7EAC2-42C5-4F9C-8EC6-66638180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Price Predictor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85939-5900-42DB-8DD2-01233AD8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819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Uses live mandi data first and fallback forecast when records are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2DE27-2C95-4741-A67A-3074D6E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0191F-CFB4-4779-AC07-2A7CC4CD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88399B-11CB-4EE3-AE07-387F3A60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Kisan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B6916-0252-4513-BD63-6727472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76700"/>
            <a:ext cx="2819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Answers farming questions with OpenRouter, Hugging Face and local fallback.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EC743-E1FD-4DE5-B3DB-24D04B10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E3F00-43ED-40D5-AF2A-A58447F5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F0417-F752-432F-A670-A546EF81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Admin Panel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25268-D28A-4068-BEC9-8144355D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76700"/>
            <a:ext cx="2819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Shows farms, predictions, chat logs and crop knowledge counts for admin.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E69104-3642-42FC-B14D-31203A1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2769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FB9A0D-E62D-486D-96E2-55860E96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AB846-CEAA-42D5-9523-DF0B66BD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A complete demo can be shown in seven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08A9F-A9B0-4C45-A371-9CF95EED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26CD6-4596-486D-9A5D-4301BAFC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8D3AE-F7A0-41D7-9C22-90A95B69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9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Add farm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BB688-19A8-4C5A-9BFD-8311F5A3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288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6E978-41E1-4330-B554-B7D6B26F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D5A67-85E5-4B77-A298-BA945444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09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Predict crop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DA811-27E3-42EC-AC3E-09F899D7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288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597E6-A5CD-48C2-9834-34869841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DFA70-D838-4D7A-AF4D-D71A3331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09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Check 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EC653-CA89-4889-8D05-BAC0F58C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288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AC036-C355-40CC-AB12-7AE4786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002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E5001-009C-4831-9394-853281B8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09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Ask Kisan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AC60E-1F7C-4CBD-B918-4A162C5B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288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25D9B-6AC1-4138-AF75-F6F2B53F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002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D05CB-58E3-4819-93DF-5431B0A7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209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View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4B066-4017-44B3-B826-74276264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45579-622E-4FEB-921A-E265CA67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890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A31"/>
                </a:solidFill>
              </a:defRPr>
            </a:pPr>
            <a:r>
              <a:rPr sz="1575" b="0">
                <a:solidFill>
                  <a:srgbClr val="2D3A31"/>
                </a:solidFill>
              </a:rPr>
              <a:t>Start from Dashboard, then add farm data in My Farm.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B5E00-917A-4A67-A673-1712A5DC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2C2D2-2F0A-475D-9114-1A0EEE6F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890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A31"/>
                </a:solidFill>
              </a:defRPr>
            </a:pPr>
            <a:r>
              <a:rPr sz="1575" b="0">
                <a:solidFill>
                  <a:srgbClr val="2D3A31"/>
                </a:solidFill>
              </a:rPr>
              <a:t>Run crop prediction and explain suitability score and reasons.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2A72F-22D7-47A5-ACD8-15673CA4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8980F-2267-4A25-801F-756A0703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890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A31"/>
                </a:solidFill>
              </a:defRPr>
            </a:pPr>
            <a:r>
              <a:rPr sz="1575" b="0">
                <a:solidFill>
                  <a:srgbClr val="2D3A31"/>
                </a:solidFill>
              </a:rPr>
              <a:t>Run price prediction and point out live/fallback source label.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D78FD-6E8D-4953-B35C-6374CE0A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72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9B743-4E5B-4230-8129-96C98F19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890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A31"/>
                </a:solidFill>
              </a:defRPr>
            </a:pPr>
            <a:r>
              <a:rPr sz="1575" b="0">
                <a:solidFill>
                  <a:srgbClr val="2D3A31"/>
                </a:solidFill>
              </a:rPr>
              <a:t>Ask the assistant in Hindi or Gujarati to prove multilingual support.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503B7-ECFD-4F7B-8088-567F7F0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2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D939C-9C38-42E2-848E-8A28121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890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A31"/>
                </a:solidFill>
              </a:defRPr>
            </a:pPr>
            <a:r>
              <a:rPr sz="1575" b="0">
                <a:solidFill>
                  <a:srgbClr val="2D3A31"/>
                </a:solidFill>
              </a:rPr>
              <a:t>Show Admin Panel to prove data is saved in backend database.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E87E0C-4D5D-47A2-9E8F-3669E9BE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04592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ADE2EC-413B-4701-BEBA-26B9C95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177E8-6892-4CAE-BB75-FC015128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Architecture connects frontend, backend, database and live APIs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E473E-3BEA-4D86-AB96-6A451E8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04BB9-0076-48A0-854F-4928039F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1666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E86A3-7025-46D1-B7E3-50D38BA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React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972C1-D3DD-4038-9E76-5A6FB673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383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BF0E1-2327-4CF3-9E87-43072C8C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666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1C435-D938-4DCA-AFCE-9A41BB12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Node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1E62A-0D3F-467C-9FA3-CC4A69A9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E5205-DD47-4D7B-8CC5-6D30912E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9750"/>
            <a:ext cx="1666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AA032-80D2-4D11-9F31-14753CBC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193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Engines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97005-30C9-4CE9-ADE6-E1325439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383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41E73-7474-4ED6-99DD-9D72C418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1666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9C1AA-1033-4634-94F4-049279A7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193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AB07A-A033-4B0E-85CA-FE4C0387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383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EAE02-B9BA-4C65-8EFF-ACE8BB01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9750"/>
            <a:ext cx="1666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EC08C-A093-4112-94A5-B4D96965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193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External APIs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3B1E9-187D-4CA0-A695-699C08BB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A3E44-704E-4963-9D4C-FFEECE95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631F5-6909-4C5A-AA9A-4F224417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Backend engines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E2F43-DA8F-4C23-8A4F-B4F9EC27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Crop engine, price engine, live data service, OpenRouter service, Hugging Face service and local Kisan engine.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B35F8-A676-4B5D-99AE-0AE7C72A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354DCD-974D-4A6C-9884-03FB1CAF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FD7AA-0965-492D-AC22-0DE6047C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External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2F835-E633-4FD9-AD94-0B5B6F6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Open-Meteo for weather/geocoding, data.gov.in for mandi price, OpenRouter/Hugging Face for AI chat.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267261-8EBE-44AA-BBC4-3CF272C6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449"/>
                </a:solidFill>
              </a:defRPr>
            </a:pPr>
            <a:r>
              <a:rPr sz="1650" b="1">
                <a:solidFill>
                  <a:srgbClr val="167449"/>
                </a:solidFill>
              </a:rPr>
              <a:t>Viva line: React sends requests; Node processes logic; SQLite stores data; APIs add live intelligence.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76527A-38D4-413F-836D-A936EABE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82310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F844D-EB0C-4C19-B380-354486E4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1A14C-8FE0-4AE2-BE57-62CE416F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Farm profile is the foundation for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261F4-F955-4FA2-953A-68EA3773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04875" y="1666875"/>
          <a:ext xmlns:a="http://schemas.openxmlformats.org/drawingml/2006/main" cx="1038225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91125"/>
                <a:gridCol w="5191125"/>
              </a:tblGrid>
              <a:tr h="619125">
                <a:tc>
                  <a:txBody>
                    <a:bodyPr/>
                    <a:lstStyle/>
                    <a:p>
                      <a:r>
                        <a:t>Input group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Examples collected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Location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City, district, state, latitude, longitude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Soil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Soil type, pH, nitrogen, phosphorus, potassium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Water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Water source, availability, irrigation type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Crop 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Previous crop and selected season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Market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Crop, market, quantity for price estimation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C8760-6C30-49AD-9ECF-98FBE8F1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449"/>
                </a:solidFill>
              </a:defRPr>
            </a:pPr>
            <a:r>
              <a:rPr sz="1650" b="1">
                <a:solidFill>
                  <a:srgbClr val="167449"/>
                </a:solidFill>
              </a:rPr>
              <a:t>Reason: more complete farm data gives more meaningful crop ranking and price estimation.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070CB-794F-4544-89D2-4085A23A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92382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C74A1-4723-442C-8A81-1DB12805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370DB-CA84-488E-9A0D-564A569C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Crop prediction uses explainable multi-factor scoring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DBE3B-F55A-47BE-B487-06B49D19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85F0A-C1D7-41BF-984D-6D31B6FF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78FCC-5FE6-44D9-B3A0-53D2C5DE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EF10A-4EF6-4885-AEBF-A41DCC0C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FF2DC-44DF-4261-BB06-2318CAE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Soil, season, pH, NPK, water, irrigation, previous crop, district/state and live weather.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3977E-9A98-409E-AB48-B7AB42B9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335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F7FAF-4812-4902-9FA5-3859490C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335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013A1-BB62-4C54-BD17-C7E9CAAD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24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Scoring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7F798-D26C-43A2-B8FA-D14E1B9E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8600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The engine compares farm conditions with crop knowledge and adds/penalizes suitability factors.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32F13-2AF1-47D2-8D85-3870AC0D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335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86FBD-235F-4B4F-A1B9-B9430BA2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335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32A"/>
          </a:solidFill>
          <a:ln xmlns:a="http://schemas.openxmlformats.org/drawingml/2006/main" w="9525">
            <a:solidFill>
              <a:srgbClr val="D593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2DB3C-6F14-4EF5-BB52-06AED60E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0469A-2400-416C-A739-6CEDC0C0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Ranked crops, suitability score, confidence, reason notes, weather context and action tips.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6F762-BAE6-462D-9CE1-9406EF62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38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36E10-ED8A-4DCF-A19E-03785982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53000"/>
            <a:ext cx="909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D3A31"/>
                </a:solidFill>
              </a:defRPr>
            </a:pPr>
            <a:r>
              <a:rPr sz="1650" b="0">
                <a:solidFill>
                  <a:srgbClr val="2D3A31"/>
                </a:solidFill>
              </a:rPr>
              <a:t>Example: alluvial soil + canal irrigation + high water in Kharif can favor rice.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1AC3B-F900-4CF5-923D-08F3A9F2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9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CF288-EECA-48A4-8A50-D5FAD182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10200"/>
            <a:ext cx="909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D3A31"/>
                </a:solidFill>
              </a:defRPr>
            </a:pPr>
            <a:r>
              <a:rPr sz="1650" b="0">
                <a:solidFill>
                  <a:srgbClr val="2D3A31"/>
                </a:solidFill>
              </a:rPr>
              <a:t>Explainability helps faculty understand why a crop was recommended.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DC0B3-D5DC-4E08-8A2E-9DE9FF78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97876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D2D6E-4FE7-43CA-B806-910C5354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A4C14-A044-4664-AC73-EAB137EC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Price prediction clearly separates real data and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9FC21-3D49-4318-95FB-B41A6D5D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3B9A9-72C6-40F4-95E9-BC48E169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762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FCB04-5131-4AA9-893C-3672A8F7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Crop + market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41646-8A35-4284-B93F-508D448A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133600"/>
            <a:ext cx="2190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1CCF2-BA69-47F7-B622-771F0847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0"/>
            <a:ext cx="1762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CE1AA-DDA0-49E0-9288-DE43BEC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data.gov.in lookup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99FE3-55B7-4463-AD65-EEE48582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33600"/>
            <a:ext cx="2190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0A338-3387-43AF-B7C8-11E586F1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05000"/>
            <a:ext cx="1762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4CE31-C4C5-4229-A661-59DE9337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14550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Live modal 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CF6F0-1D53-4224-A175-F775007A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33600"/>
            <a:ext cx="2190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D3A20-5C3B-486C-817F-7C662D75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1762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5DF30-10C3-4961-A257-2E5E40D0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Fallback forecast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EE61F-0415-488E-B351-E38D530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33600"/>
            <a:ext cx="2190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C4436-AB8E-4433-BA5F-B14E04B8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05000"/>
            <a:ext cx="1762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E0880-90A9-4A55-AE1E-EEA125A8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Revenue advice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7D7D0-32B5-4EC1-9160-8C766BA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32A"/>
          </a:solidFill>
          <a:ln xmlns:a="http://schemas.openxmlformats.org/drawingml/2006/main" w="9525">
            <a:solidFill>
              <a:srgbClr val="D59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FB75E-9A65-4D37-A2F3-7C710EF5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19500"/>
            <a:ext cx="957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D3A31"/>
                </a:solidFill>
              </a:defRPr>
            </a:pPr>
            <a:r>
              <a:rPr sz="1650" b="0">
                <a:solidFill>
                  <a:srgbClr val="2D3A31"/>
                </a:solidFill>
              </a:rPr>
              <a:t>If mandi records match crop/state/district, the app uses live modal price.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AAF4F-0705-4B97-A26A-5FDCAF1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32A"/>
          </a:solidFill>
          <a:ln xmlns:a="http://schemas.openxmlformats.org/drawingml/2006/main" w="9525">
            <a:solidFill>
              <a:srgbClr val="D59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6839F-7E82-4209-B37C-E38EDFC6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14800"/>
            <a:ext cx="957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D3A31"/>
                </a:solidFill>
              </a:defRPr>
            </a:pPr>
            <a:r>
              <a:rPr sz="1650" b="0">
                <a:solidFill>
                  <a:srgbClr val="2D3A31"/>
                </a:solidFill>
              </a:rPr>
              <a:t>If records are missing, the fallback engine still gives a forecast.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1880C-F42A-4CCB-AB3F-52FE80CB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95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32A"/>
          </a:solidFill>
          <a:ln xmlns:a="http://schemas.openxmlformats.org/drawingml/2006/main" w="9525">
            <a:solidFill>
              <a:srgbClr val="D59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105DD-9026-471A-8A7B-C57C73DE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10100"/>
            <a:ext cx="957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D3A31"/>
                </a:solidFill>
              </a:defRPr>
            </a:pPr>
            <a:r>
              <a:rPr sz="1650" b="0">
                <a:solidFill>
                  <a:srgbClr val="2D3A31"/>
                </a:solidFill>
              </a:rPr>
              <a:t>The UI displays source label: Live Mandi Data or Fallback Estimate.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918A5-59F1-47B3-BDA0-14C05A3E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32A"/>
          </a:solidFill>
          <a:ln xmlns:a="http://schemas.openxmlformats.org/drawingml/2006/main" w="9525">
            <a:solidFill>
              <a:srgbClr val="D593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00DA5-F3E1-4651-9044-54A35C7F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05400"/>
            <a:ext cx="957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D3A31"/>
                </a:solidFill>
              </a:defRPr>
            </a:pPr>
            <a:r>
              <a:rPr sz="1650" b="0">
                <a:solidFill>
                  <a:srgbClr val="2D3A31"/>
                </a:solidFill>
              </a:rPr>
              <a:t>This protects the project from misleading claims during viva.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D10C4F-4E0C-4492-9DCE-3CA8D41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26256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F94AE-9334-45C6-9695-7AAC86E9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E0499-031A-4503-9329-6262FA72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Kisan AI is professional because it has provider 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7E3D5-54AD-4068-9BF9-0F9D4F36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90237-16E4-4825-AC39-C9C85022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169C6-BA15-4B05-9DEF-A8C53D94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19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94822-1150-46E4-9A84-BB5443C0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C0548-4C1F-49BB-B853-F7C16153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E5762-D41A-4938-99D1-4BF00365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19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OpenRouter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3A2AE-828E-4527-9125-DB13532E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AE596-9D28-466D-87D0-DE1BC260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0936D-F7F5-4154-B546-944C5763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Hugging 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27640-B05F-4F46-A659-FC55BB9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A96A1-1BA6-4C0A-A0DA-3CB205AD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38736-090D-46C4-B61D-93910C1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19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18"/>
                </a:solidFill>
              </a:defRPr>
            </a:pPr>
            <a:r>
              <a:rPr sz="1275" b="1">
                <a:solidFill>
                  <a:srgbClr val="132018"/>
                </a:solidFill>
              </a:rPr>
              <a:t>Local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5F1D2-42EC-49DD-8630-81C26A0A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24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C364F-F835-492B-A90F-792CE468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957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6BFE"/>
                </a:solidFill>
              </a:defRPr>
            </a:pPr>
            <a:r>
              <a:rPr sz="2550" b="1">
                <a:solidFill>
                  <a:srgbClr val="246BFE"/>
                </a:solidFill>
              </a:rPr>
              <a:t>Primary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5E1E6-049A-4C06-9F2F-C21361D0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133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OpenRouter auto model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E91F3-79C9-402A-B693-FA955AD7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42448-42BB-4C47-9533-3F0C6897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957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449"/>
                </a:solidFill>
              </a:defRPr>
            </a:pPr>
            <a:r>
              <a:rPr sz="2550" b="1">
                <a:solidFill>
                  <a:srgbClr val="167449"/>
                </a:solidFill>
              </a:rPr>
              <a:t>Backup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C6EF8-297B-48E1-9C1F-62D00608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33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Hugging Face inference provider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E5752-56E4-42F2-A2EF-99D24E3F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92188-A854-4474-82DD-FD692CE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957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5932A"/>
                </a:solidFill>
              </a:defRPr>
            </a:pPr>
            <a:r>
              <a:rPr sz="2550" b="1">
                <a:solidFill>
                  <a:srgbClr val="D5932A"/>
                </a:solidFill>
              </a:rPr>
              <a:t>Offline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94601-F970-4559-BA31-5DF3CD7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33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Rule-based Kisan fallback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BEDCF-C906-4CD7-BC25-630FE749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449"/>
                </a:solidFill>
              </a:defRPr>
            </a:pPr>
            <a:r>
              <a:rPr sz="1650" b="1">
                <a:solidFill>
                  <a:srgbClr val="167449"/>
                </a:solidFill>
              </a:rPr>
              <a:t>Language is forced by backend prompt and local fallback: English, Hindi and Gujarati.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5CD52-8997-4747-9179-77535B6C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21657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3266B-68BE-4D58-9920-30E4A381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0383B-2CEA-4014-87A7-8C9FE606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Live APIs make the project feel real during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BEF6D-66B3-41E6-AC37-1D024584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B42A7-3695-43AC-A40E-16A9C2CA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E377C-6ED3-460F-8BD7-DB6FBD8F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08528-F37E-45F6-9731-5D538BE0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Open-Meteo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225E6-3A2C-4A5D-B6CF-E9CF1EAB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Geocoding and forecast data. Used to add live weather context to crop prediction.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49F0C-76BD-4B49-825F-417570F5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E87AC-7B04-434C-A7F6-04DF7E5B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32A"/>
          </a:solidFill>
          <a:ln xmlns:a="http://schemas.openxmlformats.org/drawingml/2006/main" w="9525">
            <a:solidFill>
              <a:srgbClr val="D593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0E103-9D8E-464F-8CF1-AF873009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data.gov.in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678EB-89DA-464A-9822-B8BCB92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Current daily mandi price records. Used first for market price prediction.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A2C6B-154B-499F-B6BB-78E5851C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762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40402-9065-4BD9-A43B-0C358091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9E36D-5B95-45B5-85C4-4E345D94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OpenRouter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34F4C-2AF5-4318-B9E0-1C5B1B1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Primary AI provider for Kisan AI chat; auto model routing returns the actual model used.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410E8-E649-48B9-A169-68F43A5D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4762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E40DF-3EAC-438B-B3CA-1FD2B754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7F2E0-53E8-4803-A1EF-8FC34F3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Hugging 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557C6-B82A-4F32-9809-7D529430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Backup AI provider using Inference Providers; keeps the project AI-ready with open-model value.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14E2D-CD89-4A1E-B811-4C8CA728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283433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9560C-3FE7-498A-B944-D3A041C5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F13C2-56D7-467C-8912-D328A484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SQLite database proves the app has a real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12E33-1534-43E8-98EF-38F0201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14400" y="1638300"/>
          <a:ext xmlns:a="http://schemas.openxmlformats.org/drawingml/2006/main" cx="103632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81600"/>
                <a:gridCol w="5181600"/>
              </a:tblGrid>
              <a:tr h="571500">
                <a:tc>
                  <a:txBody>
                    <a:bodyPr/>
                    <a:lstStyle/>
                    <a:p>
                      <a:r>
                        <a:t>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Stores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farms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Farm profile, soil, water and location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crop_predictions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Crop recommendation results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price_predictions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Price forecast and revenue results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chat_conversations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Saved chat sessions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chat_logs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User and assistant messages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crop_knowledge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Crop suitability knowledge base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CBB4E-D453-4D0D-90D5-261A8010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371109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1C6F1-5408-49C3-BB4D-E946A96B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00B5D-4F29-441A-BB79-79A55B59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Backend REST routes are simple to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EF7B7-8D2B-42CF-9AD0-BAE8196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14400" y="1638300"/>
          <a:ext xmlns:a="http://schemas.openxmlformats.org/drawingml/2006/main" cx="103632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81600"/>
                <a:gridCol w="5181600"/>
              </a:tblGrid>
              <a:tr h="571500">
                <a:tc>
                  <a:txBody>
                    <a:bodyPr/>
                    <a:lstStyle/>
                    <a:p>
                      <a:r>
                        <a:t>Endpoint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/api/farms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Create, read, update and delete farms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/api/predictions/crop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Run and list crop predictions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/api/predictions/price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Run and list price forecasts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/api/chat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Send Kisan AI message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/api/chat/history/:id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Load saved chat history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/api/admin/summary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Protected admin statistics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19691-078E-49E0-8D1F-EE4DF71A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847895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83A43-CEDC-493C-8203-5CA8B775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C6790-BAEA-4359-9C84-E373FCEE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Validation makes the project safer for final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AE533-4017-4A43-B80C-3B2C2545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14400" y="1952625"/>
          <a:ext xmlns:a="http://schemas.openxmlformats.org/drawingml/2006/main" cx="54292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69e4cda5b44bc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AAD42-F951-4343-A425-A86D6D2B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1E9CB-153C-475D-8D9C-493D40B0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A31"/>
                </a:solidFill>
              </a:defRPr>
            </a:pPr>
            <a:r>
              <a:rPr sz="1725" b="0">
                <a:solidFill>
                  <a:srgbClr val="2D3A31"/>
                </a:solidFill>
              </a:rPr>
              <a:t>npm test: 17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813B7-944A-4B10-B508-49086FCF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2A3A1-4FE8-4E36-BB68-80053E98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860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A31"/>
                </a:solidFill>
              </a:defRPr>
            </a:pPr>
            <a:r>
              <a:rPr sz="1725" b="0">
                <a:solidFill>
                  <a:srgbClr val="2D3A31"/>
                </a:solidFill>
              </a:rPr>
              <a:t>npm run lint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4EE49-A12F-496E-B983-22C639D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DC9F3-808E-47FF-A810-C2C429AE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76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A31"/>
                </a:solidFill>
              </a:defRPr>
            </a:pPr>
            <a:r>
              <a:rPr sz="1725" b="0">
                <a:solidFill>
                  <a:srgbClr val="2D3A31"/>
                </a:solidFill>
              </a:rPr>
              <a:t>npm run typecheck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7959C-5DDB-41C9-AA6F-7EB8047C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CF376-9592-408B-83EC-03DEE13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671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A31"/>
                </a:solidFill>
              </a:defRPr>
            </a:pPr>
            <a:r>
              <a:rPr sz="1725" b="0">
                <a:solidFill>
                  <a:srgbClr val="2D3A31"/>
                </a:solidFill>
              </a:rPr>
              <a:t>npm run build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D9B93-DF45-426E-91E8-6A42F523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567475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BBF97-ECC0-4C21-8854-A582FEA2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49"/>
                </a:solidFill>
              </a:defRPr>
            </a:pPr>
            <a:r>
              <a:rPr sz="975" b="1">
                <a:solidFill>
                  <a:srgbClr val="167449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E3CF1-7CDF-4A34-A54E-DE4B29F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018"/>
                </a:solidFill>
              </a:defRPr>
            </a:pPr>
            <a:r>
              <a:rPr sz="2775" b="1">
                <a:solidFill>
                  <a:srgbClr val="132018"/>
                </a:solidFill>
              </a:rPr>
              <a:t>Limitations are honest, and future scope is strong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B8DC6-0B29-44BF-A1EE-35038972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D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F2F6A-1AA4-4D56-8B7B-F9C7D927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3F1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62156-72EC-468D-A178-598D8793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9525">
            <a:solidFill>
              <a:srgbClr val="B94A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17917-6BBF-4D56-9BB2-92B0E79C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F73AE-2A5B-4CC5-A061-C5597A8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62200"/>
            <a:ext cx="4343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Public mandi records may not match every crop/district. AI providers have limits. Predictions are advisory, not a replacement for lab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2516E-6987-4884-8EA6-962B3627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CAD8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7F8BF-B382-423B-8296-2F1BDCC1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17F36-5CCE-4EE7-ABB3-6959E855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0002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18"/>
                </a:solidFill>
              </a:defRPr>
            </a:pPr>
            <a:r>
              <a:rPr sz="1575" b="1">
                <a:solidFill>
                  <a:srgbClr val="132018"/>
                </a:solidFill>
              </a:rPr>
              <a:t>Future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150EE-D063-4595-9196-2A7BEBBA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62200"/>
            <a:ext cx="4343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31"/>
                </a:solidFill>
              </a:defRPr>
            </a:pPr>
            <a:r>
              <a:rPr sz="1275" b="0">
                <a:solidFill>
                  <a:srgbClr val="2D3A31"/>
                </a:solidFill>
              </a:rPr>
              <a:t>Train ML yield model, add pest image detection, mobile app, SMS/WhatsApp alerts, cloud database and secure farmer login.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C01C1-05FC-4E4A-AB2A-E6FB8EE3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449"/>
                </a:solidFill>
              </a:defRPr>
            </a:pPr>
            <a:r>
              <a:rPr sz="1650" b="1">
                <a:solidFill>
                  <a:srgbClr val="167449"/>
                </a:solidFill>
              </a:rPr>
              <a:t>Good viva answer: the project is transparent about uncertainty and keeps fallback paths for demos.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254A1-C1A2-4719-AB09-602B7F0E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003623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1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2FD11-17E3-4AD3-86CF-B72502BD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018"/>
                </a:solidFill>
              </a:defRPr>
            </a:pPr>
            <a:r>
              <a:rPr sz="3450" b="1">
                <a:solidFill>
                  <a:srgbClr val="132018"/>
                </a:solidFill>
              </a:rPr>
              <a:t>How to explain it in viva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7F280-05CF-42A0-A67D-B55F5F00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7039B-1C02-40B1-8104-42E193D1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A31"/>
                </a:solidFill>
              </a:defRPr>
            </a:pPr>
            <a:r>
              <a:rPr sz="1800" b="0">
                <a:solidFill>
                  <a:srgbClr val="2D3A31"/>
                </a:solidFill>
              </a:rPr>
              <a:t>This is a full-stack AI crop decision support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7DD43-7D13-4CB9-BC84-A6F6C540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5996C-17DD-4F25-B912-18E3F353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A31"/>
                </a:solidFill>
              </a:defRPr>
            </a:pPr>
            <a:r>
              <a:rPr sz="1800" b="0">
                <a:solidFill>
                  <a:srgbClr val="2D3A31"/>
                </a:solidFill>
              </a:rPr>
              <a:t>Crop prediction is explainable and based on real farm parameters.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1A17E-10A6-4605-B146-E19C9EB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AE533-A2CB-4D5C-B188-5707330E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A31"/>
                </a:solidFill>
              </a:defRPr>
            </a:pPr>
            <a:r>
              <a:rPr sz="1800" b="0">
                <a:solidFill>
                  <a:srgbClr val="2D3A31"/>
                </a:solidFill>
              </a:rPr>
              <a:t>Price prediction tries live mandi data first and marks fallback estimates clearly.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E9A36-ADCB-40B4-AFFE-AF1AA733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32790-99B7-42DE-8F1A-1961C3B3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A31"/>
                </a:solidFill>
              </a:defRPr>
            </a:pPr>
            <a:r>
              <a:rPr sz="1800" b="0">
                <a:solidFill>
                  <a:srgbClr val="2D3A31"/>
                </a:solidFill>
              </a:rPr>
              <a:t>Kisan AI uses OpenRouter, Hugging Face and local fallback with Hindi/Gujarati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DFF67-CECC-4031-B16C-6F3A2EEA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49"/>
          </a:solidFill>
          <a:ln xmlns:a="http://schemas.openxmlformats.org/drawingml/2006/main" w="9525">
            <a:solidFill>
              <a:srgbClr val="1674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3C1CD-769A-45DA-85BB-4D48C957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A31"/>
                </a:solidFill>
              </a:defRPr>
            </a:pPr>
            <a:r>
              <a:rPr sz="1800" b="0">
                <a:solidFill>
                  <a:srgbClr val="2D3A31"/>
                </a:solidFill>
              </a:rPr>
              <a:t>All core backend paths are tested and the project is pushed on GitHub.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5B30D-F22C-4D9D-AED0-F455A593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055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FE"/>
                </a:solidFill>
              </a:defRPr>
            </a:pPr>
            <a:r>
              <a:rPr sz="1650" b="1">
                <a:solidFill>
                  <a:srgbClr val="246BFE"/>
                </a:solidFill>
              </a:rPr>
              <a:t>Repository: github.com/ranaprithviraj59-hue/agropredict-ai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7AC03-311E-43DB-AB64-15464A9A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56E"/>
                </a:solidFill>
              </a:defRPr>
            </a:pPr>
            <a:r>
              <a:rPr sz="900" b="1">
                <a:solidFill>
                  <a:srgbClr val="6B756E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17179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2026-07-21T04:12:29.9500000Z</dcterms:created>
  <dcterms:modified xsi:type="dcterms:W3CDTF">2026-07-21T04:12:29.9510000Z</dcterms:modified>
</coreProperties>
</file>