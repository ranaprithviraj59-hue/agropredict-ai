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1418eaa4bf44f9" /><Relationship Type="http://schemas.openxmlformats.org/officeDocument/2006/relationships/extended-properties" Target="/docProps/app.xml" Id="R7afb265e83de4040" /><Relationship Type="http://schemas.openxmlformats.org/officeDocument/2006/relationships/officeDocument" Target="/ppt/presentation.xml" Id="R9b1a16d82635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68a7dd3acd4d41"/>
  </p:sldMasterIdLst>
  <p:notesMasterIdLst>
    <p:notesMasterId xmlns:r="http://schemas.openxmlformats.org/officeDocument/2006/relationships" r:id="Rb66cf7d9faea433e"/>
  </p:notesMasterIdLst>
  <p:sldIdLst>
    <p:sldId xmlns:r="http://schemas.openxmlformats.org/officeDocument/2006/relationships" id="256" r:id="Re9d7f4448706480e"/>
    <p:sldId xmlns:r="http://schemas.openxmlformats.org/officeDocument/2006/relationships" id="257" r:id="R9c67ff2a99e84043"/>
    <p:sldId xmlns:r="http://schemas.openxmlformats.org/officeDocument/2006/relationships" id="258" r:id="R3e9ac85c8a964adc"/>
    <p:sldId xmlns:r="http://schemas.openxmlformats.org/officeDocument/2006/relationships" id="259" r:id="R17ca20bacffc44a8"/>
    <p:sldId xmlns:r="http://schemas.openxmlformats.org/officeDocument/2006/relationships" id="260" r:id="Rd925b03e08544e26"/>
    <p:sldId xmlns:r="http://schemas.openxmlformats.org/officeDocument/2006/relationships" id="261" r:id="Rf724c6265c5b4bc6"/>
    <p:sldId xmlns:r="http://schemas.openxmlformats.org/officeDocument/2006/relationships" id="262" r:id="R2f87baf72dff4e2a"/>
    <p:sldId xmlns:r="http://schemas.openxmlformats.org/officeDocument/2006/relationships" id="263" r:id="Re66002a40cf8422f"/>
    <p:sldId xmlns:r="http://schemas.openxmlformats.org/officeDocument/2006/relationships" id="264" r:id="Rc2d8277b19ca4936"/>
    <p:sldId xmlns:r="http://schemas.openxmlformats.org/officeDocument/2006/relationships" id="265" r:id="R90c4f7f31d0d4e1e"/>
    <p:sldId xmlns:r="http://schemas.openxmlformats.org/officeDocument/2006/relationships" id="266" r:id="R5edb28c3c63f4b38"/>
    <p:sldId xmlns:r="http://schemas.openxmlformats.org/officeDocument/2006/relationships" id="267" r:id="R595c5f40bd2642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67096107714364" /><Relationship Type="http://schemas.openxmlformats.org/officeDocument/2006/relationships/slideMaster" Target="/ppt/slideMasters/slideMaster1.xml" Id="R6968a7dd3acd4d41" /><Relationship Type="http://schemas.openxmlformats.org/officeDocument/2006/relationships/notesMaster" Target="/ppt/notesMasters/notesMaster1.xml" Id="Rb66cf7d9faea433e" /><Relationship Type="http://schemas.openxmlformats.org/officeDocument/2006/relationships/presProps" Target="/ppt/presProps.xml" Id="R44790095b11549c1" /><Relationship Type="http://schemas.openxmlformats.org/officeDocument/2006/relationships/tableStyles" Target="/ppt/tableStyles.xml" Id="Ra2125e8379bc4286" /><Relationship Type="http://schemas.openxmlformats.org/officeDocument/2006/relationships/slide" Target="/ppt/slides/slide1.xml" Id="Re9d7f4448706480e" /><Relationship Type="http://schemas.openxmlformats.org/officeDocument/2006/relationships/slide" Target="/ppt/slides/slide2.xml" Id="R9c67ff2a99e84043" /><Relationship Type="http://schemas.openxmlformats.org/officeDocument/2006/relationships/slide" Target="/ppt/slides/slide3.xml" Id="R3e9ac85c8a964adc" /><Relationship Type="http://schemas.openxmlformats.org/officeDocument/2006/relationships/slide" Target="/ppt/slides/slide4.xml" Id="R17ca20bacffc44a8" /><Relationship Type="http://schemas.openxmlformats.org/officeDocument/2006/relationships/slide" Target="/ppt/slides/slide5.xml" Id="Rd925b03e08544e26" /><Relationship Type="http://schemas.openxmlformats.org/officeDocument/2006/relationships/slide" Target="/ppt/slides/slide6.xml" Id="Rf724c6265c5b4bc6" /><Relationship Type="http://schemas.openxmlformats.org/officeDocument/2006/relationships/slide" Target="/ppt/slides/slide7.xml" Id="R2f87baf72dff4e2a" /><Relationship Type="http://schemas.openxmlformats.org/officeDocument/2006/relationships/slide" Target="/ppt/slides/slide8.xml" Id="Re66002a40cf8422f" /><Relationship Type="http://schemas.openxmlformats.org/officeDocument/2006/relationships/slide" Target="/ppt/slides/slide9.xml" Id="Rc2d8277b19ca4936" /><Relationship Type="http://schemas.openxmlformats.org/officeDocument/2006/relationships/slide" Target="/ppt/slides/slide10.xml" Id="R90c4f7f31d0d4e1e" /><Relationship Type="http://schemas.openxmlformats.org/officeDocument/2006/relationships/slide" Target="/ppt/slides/slide11.xml" Id="R5edb28c3c63f4b38" /><Relationship Type="http://schemas.openxmlformats.org/officeDocument/2006/relationships/slide" Target="/ppt/slides/slide12.xml" Id="R595c5f40bd2642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49fda9de5c43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e6984954ad4d9c" /><Relationship Type="http://schemas.openxmlformats.org/officeDocument/2006/relationships/notesMaster" Target="/ppt/notesMasters/notesMaster1.xml" Id="Rf045b809c9894e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62a40d257a4daf" /><Relationship Type="http://schemas.openxmlformats.org/officeDocument/2006/relationships/notesMaster" Target="/ppt/notesMasters/notesMaster1.xml" Id="R3d4cc6b1b32b42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6568f3b0a04448" /><Relationship Type="http://schemas.openxmlformats.org/officeDocument/2006/relationships/notesMaster" Target="/ppt/notesMasters/notesMaster1.xml" Id="Rc09777694b3b46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78b1e5e12f4fc3" /><Relationship Type="http://schemas.openxmlformats.org/officeDocument/2006/relationships/notesMaster" Target="/ppt/notesMasters/notesMaster1.xml" Id="Ra04720656c404f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90e1da858040fa" /><Relationship Type="http://schemas.openxmlformats.org/officeDocument/2006/relationships/notesMaster" Target="/ppt/notesMasters/notesMaster1.xml" Id="Rc9486791197d41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019368863a4a09" /><Relationship Type="http://schemas.openxmlformats.org/officeDocument/2006/relationships/notesMaster" Target="/ppt/notesMasters/notesMaster1.xml" Id="R4e1271665d2447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f256ffba8e45f0" /><Relationship Type="http://schemas.openxmlformats.org/officeDocument/2006/relationships/notesMaster" Target="/ppt/notesMasters/notesMaster1.xml" Id="Rde5f429af9704d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8d92283e2d44d2" /><Relationship Type="http://schemas.openxmlformats.org/officeDocument/2006/relationships/notesMaster" Target="/ppt/notesMasters/notesMaster1.xml" Id="R802ee7d8c8e149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851646b6b04c89" /><Relationship Type="http://schemas.openxmlformats.org/officeDocument/2006/relationships/notesMaster" Target="/ppt/notesMasters/notesMaster1.xml" Id="Rca6f391243984e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c2c3289c04421c" /><Relationship Type="http://schemas.openxmlformats.org/officeDocument/2006/relationships/notesMaster" Target="/ppt/notesMasters/notesMaster1.xml" Id="R24a3224542e44c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4fb62546a746bf" /><Relationship Type="http://schemas.openxmlformats.org/officeDocument/2006/relationships/notesMaster" Target="/ppt/notesMasters/notesMaster1.xml" Id="Rb245ce9cc6d34e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ebbac44ca34130" /><Relationship Type="http://schemas.openxmlformats.org/officeDocument/2006/relationships/notesMaster" Target="/ppt/notesMasters/notesMaster1.xml" Id="R91d300c23dfe4f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5d567d4b647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f232a1075a4f5c" /><Relationship Type="http://schemas.openxmlformats.org/officeDocument/2006/relationships/slideLayout" Target="/ppt/slideLayouts/slideLayout1.xml" Id="R77e0614daea449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0614daea449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70bb3120e475c" /><Relationship Type="http://schemas.openxmlformats.org/officeDocument/2006/relationships/notesSlide" Target="/ppt/notesSlides/notesSlide1.xml" Id="R71f53f9f88be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430022e124cb8" /><Relationship Type="http://schemas.openxmlformats.org/officeDocument/2006/relationships/notesSlide" Target="/ppt/notesSlides/notesSlide2.xml" Id="R5e488c40b6b440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26dfaeb6d49f1" /><Relationship Type="http://schemas.openxmlformats.org/officeDocument/2006/relationships/notesSlide" Target="/ppt/notesSlides/notesSlide3.xml" Id="R3dd82812dec445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6e340c3a044f5" /><Relationship Type="http://schemas.openxmlformats.org/officeDocument/2006/relationships/notesSlide" Target="/ppt/notesSlides/notesSlide4.xml" Id="R62a3ca625fdf41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74beab4f24708" /><Relationship Type="http://schemas.openxmlformats.org/officeDocument/2006/relationships/notesSlide" Target="/ppt/notesSlides/notesSlide5.xml" Id="Reeb3c3b76bf3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8495dabff4280" /><Relationship Type="http://schemas.openxmlformats.org/officeDocument/2006/relationships/notesSlide" Target="/ppt/notesSlides/notesSlide6.xml" Id="R4bfb132fc05d43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d4138d2454b72" /><Relationship Type="http://schemas.openxmlformats.org/officeDocument/2006/relationships/notesSlide" Target="/ppt/notesSlides/notesSlide7.xml" Id="Rd60db88999394c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63050709946a7" /><Relationship Type="http://schemas.openxmlformats.org/officeDocument/2006/relationships/notesSlide" Target="/ppt/notesSlides/notesSlide8.xml" Id="Rdafbb10d9cfb41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d6361eae14c29" /><Relationship Type="http://schemas.openxmlformats.org/officeDocument/2006/relationships/notesSlide" Target="/ppt/notesSlides/notesSlide9.xml" Id="Rcced3154696145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3f1d287344c10" /><Relationship Type="http://schemas.openxmlformats.org/officeDocument/2006/relationships/chart" Target="/ppt/slides/charts/chart1.xml" Id="R21bbb27cb4014bae" /><Relationship Type="http://schemas.openxmlformats.org/officeDocument/2006/relationships/notesSlide" Target="/ppt/notesSlides/notesSlide10.xml" Id="R2c8aa544dc9048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adf13edbf4550" /><Relationship Type="http://schemas.openxmlformats.org/officeDocument/2006/relationships/notesSlide" Target="/ppt/notesSlides/notesSlide11.xml" Id="R4c177713011d4b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47f27ee424628" /><Relationship Type="http://schemas.openxmlformats.org/officeDocument/2006/relationships/notesSlide" Target="/ppt/notesSlides/notesSlide12.xml" Id="R66ff5f92c0eb42d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Test coverage focus</c:v>
          </c:tx>
          <c:spPr>
            <a:solidFill xmlns:a="http://schemas.openxmlformats.org/drawingml/2006/main">
              <a:srgbClr val="2F80ED"/>
            </a:solidFill>
          </c:spPr>
          <c:cat>
            <c:strLit>
              <c:ptCount val="5"/>
              <c:pt idx="0">
                <c:v>Crop</c:v>
              </c:pt>
              <c:pt idx="1">
                <c:v>Price</c:v>
              </c:pt>
              <c:pt idx="2">
                <c:v>Live APIs</c:v>
              </c:pt>
              <c:pt idx="3">
                <c:v>Chat</c:v>
              </c:pt>
              <c:pt idx="4">
                <c:v>Routes</c:v>
              </c:pt>
            </c:strLit>
          </c:cat>
          <c:val>
            <c:numLit>
              <c:formatCode>General</c:formatCode>
              <c:ptCount val="5"/>
              <c:pt idx="0">
                <c:v>4</c:v>
              </c:pt>
              <c:pt idx="1">
                <c:v>3</c:v>
              </c:pt>
              <c:pt idx="2">
                <c:v>4</c:v>
              </c:pt>
              <c:pt idx="3">
                <c:v>3</c:v>
              </c:pt>
              <c:pt idx="4">
                <c:v>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588B5-04E8-4CEA-A04B-0C5AB7AC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418"/>
                </a:solidFill>
              </a:defRPr>
            </a:pPr>
            <a:r>
              <a:rPr sz="4350" b="1">
                <a:solidFill>
                  <a:srgbClr val="101418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B55EE-67A0-453C-8409-D17156C9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E363D"/>
                </a:solidFill>
              </a:defRPr>
            </a:pPr>
            <a:r>
              <a:rPr sz="1875" b="0">
                <a:solidFill>
                  <a:srgbClr val="2E363D"/>
                </a:solidFill>
              </a:rPr>
              <a:t>AI crop prediction, price forecasting, and multilingual Kisan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908C8-E102-41AA-9BCD-32BDE42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4D"/>
                </a:solidFill>
              </a:defRPr>
            </a:pPr>
            <a:r>
              <a:rPr sz="1500" b="1">
                <a:solidFill>
                  <a:srgbClr val="1F7A4D"/>
                </a:solidFill>
              </a:rPr>
              <a:t>Final Year Project | React + Node.js + SQLite + Live Agriculture APIs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8A171-AB86-44C1-BAE7-6F336F4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1AAEF-683C-4575-9AD2-C8AE1E2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FEE0D-CBFF-4726-8BF7-7641D30F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363D"/>
                </a:solidFill>
              </a:defRPr>
            </a:pPr>
            <a:r>
              <a:rPr sz="1350" b="0">
                <a:solidFill>
                  <a:srgbClr val="2E363D"/>
                </a:solidFill>
              </a:rPr>
              <a:t>AI provider layers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DE95B-22F7-49A3-B1E6-633DF401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4F9C6-23AD-4EA4-AB1D-CA25D4AF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4D"/>
                </a:solidFill>
              </a:defRPr>
            </a:pPr>
            <a:r>
              <a:rPr sz="2550" b="1">
                <a:solidFill>
                  <a:srgbClr val="1F7A4D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DF8E5-8021-48A6-B2B5-22506015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483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363D"/>
                </a:solidFill>
              </a:defRPr>
            </a:pPr>
            <a:r>
              <a:rPr sz="1350" b="0">
                <a:solidFill>
                  <a:srgbClr val="2E363D"/>
                </a:solidFill>
              </a:rPr>
              <a:t>backend tests passing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B910D-0748-4E28-AD8C-DEECD43E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07082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3E653-8D21-4258-B9C5-FCCA23E5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B52FE-3C67-4B8B-9AAE-6A36E72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Farm decisions need soil, climate, and market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E7689-9688-49DF-842D-D1E3AE8D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B53FE-9649-4E99-93CD-02F2A095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65CD9-1949-439E-AC93-AB71702B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E363D"/>
                </a:solidFill>
              </a:defRPr>
            </a:pPr>
            <a:r>
              <a:rPr sz="1800" b="0">
                <a:solidFill>
                  <a:srgbClr val="2E363D"/>
                </a:solidFill>
              </a:rPr>
              <a:t>Farmers often decide crops from habit or incomplete local advice.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D55EC-D3D5-4770-9EED-720E2147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DBADD-F127-4FA1-AA82-A669E52B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E363D"/>
                </a:solidFill>
              </a:defRPr>
            </a:pPr>
            <a:r>
              <a:rPr sz="1800" b="0">
                <a:solidFill>
                  <a:srgbClr val="2E363D"/>
                </a:solidFill>
              </a:rPr>
              <a:t>Crop success depends on soil, pH, NPK, water, season, weather, and prices.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72FA3-289D-4148-9578-AA4CA0AA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E59C3-1FDA-4CEA-8EA3-7D566EDE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E363D"/>
                </a:solidFill>
              </a:defRPr>
            </a:pPr>
            <a:r>
              <a:rPr sz="1800" b="0">
                <a:solidFill>
                  <a:srgbClr val="2E363D"/>
                </a:solidFill>
              </a:rPr>
              <a:t>Market and weather data are usually checked separately.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B9548-ADE6-402C-9339-BC391398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DFAE7-30AE-4658-89C4-EDF8D7D3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E363D"/>
                </a:solidFill>
              </a:defRPr>
            </a:pPr>
            <a:r>
              <a:rPr sz="1800" b="0">
                <a:solidFill>
                  <a:srgbClr val="2E363D"/>
                </a:solidFill>
              </a:rPr>
              <a:t>The project brings these signals into one explainable application.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9D4BB-A197-4735-AFEE-E24606DF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9848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C83FC-DFBD-48AA-87AA-F0167408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5CB1F-B229-42BD-BDE1-DEC221B1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The system turns farm inputs into practical recommendations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B15B-B15F-4594-98BF-AF8D025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EC7B8-EF1F-478B-AFC3-E4B1B280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83950-F9CE-431A-AD3B-D25E5CC7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Farm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95585-3B1E-4754-9566-CCAAEC8F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ECF6C-2581-4C9D-9132-364CBC77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24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Live weather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BA9D7-BB25-4A2F-A4CB-CB162DD6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A8822-4FD7-484A-99BC-29A67C07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24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Crop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0EB90-DD75-4101-967D-4284E06A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EB897-F2C6-48C3-8392-8BCC5690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24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Price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EFFA5-1228-4C39-84A7-B3B0B3EC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3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2215B-C49D-4BB6-B1B1-41DCD259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Kisan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252EB-02C8-4550-801B-B86A6CAD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6695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CB94D-B664-4484-9610-2DC893B6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34472-9496-4DA0-90E4-ED5D0348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4A557-9465-4064-A24B-F37A4ED9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E16AE-1960-4A56-8DE9-0267BFFC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7025A-D66C-40B0-9B31-7951BB39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363D"/>
                </a:solidFill>
              </a:defRPr>
            </a:pPr>
            <a:r>
              <a:rPr sz="1650" b="0">
                <a:solidFill>
                  <a:srgbClr val="2E363D"/>
                </a:solidFill>
              </a:rPr>
              <a:t>React UI collects farm and prediction inputs.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DD28C-BC10-4CA3-BAD6-DCF148A3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89E1F-4B4F-4555-9FE2-5D7E441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363D"/>
                </a:solidFill>
              </a:defRPr>
            </a:pPr>
            <a:r>
              <a:rPr sz="1650" b="0">
                <a:solidFill>
                  <a:srgbClr val="2E363D"/>
                </a:solidFill>
              </a:rPr>
              <a:t>Node.js backend performs scoring, API calls, database writes, and AI routing.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A9966-537D-42C3-BD15-967EDE07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81004-E471-428E-9AA9-70CDBE88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0535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363D"/>
                </a:solidFill>
              </a:defRPr>
            </a:pPr>
            <a:r>
              <a:rPr sz="1650" b="0">
                <a:solidFill>
                  <a:srgbClr val="2E363D"/>
                </a:solidFill>
              </a:rPr>
              <a:t>SQLite stores farms, predictions, price forecasts, and chat history.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05BE8-D1AF-41EB-A221-3947C4BD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38425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E633E-BD08-482D-9010-CD967F22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77001-2A94-42B8-A7A9-A7BA9C7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Technology choices keep the demo real and portable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19CE3-357E-48BA-ACA8-ADF581BE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38200" y="1638300"/>
          <a:ext xmlns:a="http://schemas.openxmlformats.org/drawingml/2006/main" cx="10477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557893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Technology and purpose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Frontend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React, Vite, Tailwind CSS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Backend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Node.js HTTP API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SQLite with node:sqlite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OpenRouter, Hugging Face, local fallback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Live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Open-Meteo weather, data.gov.in mandi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Quality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Node tests, ESLint, typecheck, build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A9E9A-50BF-42CE-BAE6-58A4E1D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26067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BF51FE-B0C1-4424-85AA-D25FF59D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48F27-A53B-44BA-B42A-789C30D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Crop prediction is explainable instead of black-box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50FA1-0B95-4B87-BC61-D105A18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325AD-9C5F-474B-9AFC-219C79F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</a:defRPr>
            </a:pPr>
            <a:r>
              <a:rPr sz="1950" b="1">
                <a:solidFill>
                  <a:srgbClr val="101418"/>
                </a:solidFill>
              </a:rPr>
              <a:t>Scoring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E736F-D842-46FE-A3B5-AA1DC86E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418C9-D34A-4922-BA0E-7B79C020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377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Soil type and region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ADB14-870E-462D-B75A-B2E8D8B0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E24AC-0DF0-4E75-A6A0-064F88E3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377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Season and water availability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809ED-548E-4207-9BA2-FF6123B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F9BD5-C152-423C-97EA-38E24EE6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377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pH and NPK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D80EB-882E-47EC-9C18-19FEB5BD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0AF30-4D04-4486-90E6-022B5629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377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Irrigation and previous crop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F5A13-5D0A-4F48-9DB0-C426113C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24B3A-A421-4B5E-A15E-2B45AEC7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377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Live weather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1E28D-315B-46BD-ABA5-653C8C57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4476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E0D46-C08F-4DC1-BC9F-023E464A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</a:defRPr>
            </a:pPr>
            <a:r>
              <a:rPr sz="1950" b="1">
                <a:solidFill>
                  <a:srgbClr val="101418"/>
                </a:solidFill>
              </a:rPr>
              <a:t>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2401A-8956-441A-BE02-E717E48D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DC84B-7328-456B-B003-4CDB556F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363D"/>
                </a:solidFill>
              </a:defRPr>
            </a:pPr>
            <a:r>
              <a:rPr sz="1575" b="0">
                <a:solidFill>
                  <a:srgbClr val="2E363D"/>
                </a:solidFill>
              </a:rPr>
              <a:t>Ranked crop 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C8BCE-93A2-4F09-9800-99B776A9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F035C-5E51-4F7A-A863-9A99C7BF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363D"/>
                </a:solidFill>
              </a:defRPr>
            </a:pPr>
            <a:r>
              <a:rPr sz="1575" b="0">
                <a:solidFill>
                  <a:srgbClr val="2E363D"/>
                </a:solidFill>
              </a:rPr>
              <a:t>Suitability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4786A-A923-4993-90B9-79E28B0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9B64B-A163-4F48-B9CA-4AFDFAD0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363D"/>
                </a:solidFill>
              </a:defRPr>
            </a:pPr>
            <a:r>
              <a:rPr sz="1575" b="0">
                <a:solidFill>
                  <a:srgbClr val="2E363D"/>
                </a:solidFill>
              </a:rPr>
              <a:t>Confidence and reasons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9BD9E-9134-466F-BB63-F5C2409C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B13DA-0453-4BEC-AF8C-AAA8C593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363D"/>
                </a:solidFill>
              </a:defRPr>
            </a:pPr>
            <a:r>
              <a:rPr sz="1575" b="0">
                <a:solidFill>
                  <a:srgbClr val="2E363D"/>
                </a:solidFill>
              </a:rPr>
              <a:t>Risk notes and suggestions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DAD5F-295F-43F0-8CD3-F3E0B9F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4D"/>
                </a:solidFill>
              </a:defRPr>
            </a:pPr>
            <a:r>
              <a:rPr sz="1500" b="1">
                <a:solidFill>
                  <a:srgbClr val="1F7A4D"/>
                </a:solidFill>
              </a:rPr>
              <a:t>Viva point: a faculty member can ask why a crop was recommended, and the engine can explain the factors.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409B3-5F00-4134-AD51-1C218AC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97113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B4D17-338E-4210-8301-1F975E14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67997-B888-4ED6-B7AF-3C5D9E77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Price prediction separates live data from fallback estimates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ED908-5C5A-4266-AC0E-15863BFE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02246-9F84-4C33-B10C-1C9DF319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33C08-C5E2-4871-9A3D-B3E14AF8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958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363D"/>
                </a:solidFill>
              </a:defRPr>
            </a:pPr>
            <a:r>
              <a:rPr sz="1650" b="0">
                <a:solidFill>
                  <a:srgbClr val="2E363D"/>
                </a:solidFill>
              </a:rPr>
              <a:t>The backend first searches data.gov.in mandi records by crop, state, and district.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4027D-9E89-4ED4-B3ED-67658462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A4A00-9331-466C-B0F6-D4C46646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958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363D"/>
                </a:solidFill>
              </a:defRPr>
            </a:pPr>
            <a:r>
              <a:rPr sz="1650" b="0">
                <a:solidFill>
                  <a:srgbClr val="2E363D"/>
                </a:solidFill>
              </a:rPr>
              <a:t>When a matching record exists, modal price is used as live market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F1091-1157-4C76-B0F8-7C4FE1B0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7F9B2-8939-44D2-80F0-C9189AE1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958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363D"/>
                </a:solidFill>
              </a:defRPr>
            </a:pPr>
            <a:r>
              <a:rPr sz="1650" b="0">
                <a:solidFill>
                  <a:srgbClr val="2E363D"/>
                </a:solidFill>
              </a:rPr>
              <a:t>When no match exists, a local forecast still gives a usable estimate.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90C22-CDCB-4F70-8B75-5AD90859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8628B-07C2-415A-AF4C-BF4DF054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958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363D"/>
                </a:solidFill>
              </a:defRPr>
            </a:pPr>
            <a:r>
              <a:rPr sz="1650" b="0">
                <a:solidFill>
                  <a:srgbClr val="2E363D"/>
                </a:solidFill>
              </a:rPr>
              <a:t>The UI labels the source so users know whether it is live or fallback.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6EAF5-3952-4DDD-9FC8-EE56BCE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43151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8ECBE-A7F0-4B3C-A3F5-C8D718C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A4508-B615-456F-B7C3-3BEDA2E3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Kisan AI uses provider fallback for reliable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22F66-18FD-407A-A880-FB8160B4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41118-6D77-46B8-9E52-8F5A915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4E0E5-C3F1-4E11-8415-932D2646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19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User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F8C60-24C2-4ED4-9252-823EBEDE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C5142-6FB4-4546-ACF2-09A77758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19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OpenRouter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06D8B-0AD5-46FC-B8F9-CF1ECC77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FC6A1-C6EC-4688-9091-C5781BAA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Hugging 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DB985-E6CA-4925-9364-9B9CD3F4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3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BC001-C58A-4C1B-9C09-FD57289A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19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Local Kisan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3ECD6-84BC-4965-ACC7-2414D4D2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590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FA0B2-E601-4222-A721-3EA1E1D1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590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4596C-2CB7-4FDD-AE13-5EE1295B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590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36FB1-7AE9-4840-AFA0-FFA954AE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Language control is enforced in the prompt and fallback engine: English, Hindi, and Gujarati.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7F880-CE90-44CD-ADB2-2ADAA8CA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363D"/>
                </a:solidFill>
              </a:defRPr>
            </a:pPr>
            <a:r>
              <a:rPr sz="1650" b="0">
                <a:solidFill>
                  <a:srgbClr val="2E363D"/>
                </a:solidFill>
              </a:rPr>
              <a:t>Chat conversations and messages are saved in SQLite for history reload.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A36A0-D8F0-4ACB-9319-F538EFD3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28079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B4B11-6CFB-468F-A3D3-FA73928E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32C7-D37A-411F-A819-D99FF281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The backend exposes clear REST endpoints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6BE91-C22B-40E7-94FA-F7E8D066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19150" y="163830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286375"/>
              </a:tblGrid>
              <a:tr h="619125">
                <a:tc>
                  <a:txBody>
                    <a:bodyPr/>
                    <a:lstStyle/>
                    <a:p>
                      <a:r>
                        <a:t>Endpoint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Responsibility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/api/farms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Farm CRUD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/api/predictions/crop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Crop recommendation history and creation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/api/predictions/price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Price forecasting history and creation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/api/chat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Kisan AI message handling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/api/admin/summary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Protected admin statistics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EF351-FC4C-4714-BD90-0E3DE8A6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535880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A87E0-1442-44A1-9ED6-DDA2FF20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0493D-7295-4C17-A2E2-3FB1641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SQLite stores the full project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020EE-FE23-4364-B025-964FC9C8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655AF-EACC-4A52-8B44-AB0340D4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8DFC1-D7CB-4A9C-8925-90ACB151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4D"/>
                </a:solidFill>
              </a:defRPr>
            </a:pPr>
            <a:r>
              <a:rPr sz="2550" b="1">
                <a:solidFill>
                  <a:srgbClr val="1F7A4D"/>
                </a:solidFill>
              </a:rPr>
              <a:t>farms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42F65-1703-40A3-9828-A8AED9E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47925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363D"/>
                </a:solidFill>
              </a:defRPr>
            </a:pPr>
            <a:r>
              <a:rPr sz="1350" b="0">
                <a:solidFill>
                  <a:srgbClr val="2E363D"/>
                </a:solidFill>
              </a:rPr>
              <a:t>farm profiles and location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B48B8-2276-4243-8E1C-0E5A17B0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4D36D-BDFC-4B19-A42C-8E886ABB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7167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crop_predictions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C9A1B-D28E-4557-BA81-E7DA259F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479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363D"/>
                </a:solidFill>
              </a:defRPr>
            </a:pPr>
            <a:r>
              <a:rPr sz="1350" b="0">
                <a:solidFill>
                  <a:srgbClr val="2E363D"/>
                </a:solidFill>
              </a:rPr>
              <a:t>ranked crop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687CA-900D-444A-B30A-82EE3096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58D44-24FA-4819-8CA3-879FB2F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7167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8719"/>
                </a:solidFill>
              </a:defRPr>
            </a:pPr>
            <a:r>
              <a:rPr sz="2550" b="1">
                <a:solidFill>
                  <a:srgbClr val="C88719"/>
                </a:solidFill>
              </a:rPr>
              <a:t>price_predictions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148B4-F62C-42C2-B80B-08D875F8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47925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363D"/>
                </a:solidFill>
              </a:defRPr>
            </a:pPr>
            <a:r>
              <a:rPr sz="1350" b="0">
                <a:solidFill>
                  <a:srgbClr val="2E363D"/>
                </a:solidFill>
              </a:rPr>
              <a:t>price and revenue forecasts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06174-70F5-433A-B262-382AB37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623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2376D-F0E4-49F8-988C-896D82C1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719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4D"/>
                </a:solidFill>
              </a:defRPr>
            </a:pPr>
            <a:r>
              <a:rPr sz="2550" b="1">
                <a:solidFill>
                  <a:srgbClr val="1F7A4D"/>
                </a:solidFill>
              </a:rPr>
              <a:t>chat_logs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25E1C-492F-431A-BEB0-94558706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48175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363D"/>
                </a:solidFill>
              </a:defRPr>
            </a:pPr>
            <a:r>
              <a:rPr sz="1350" b="0">
                <a:solidFill>
                  <a:srgbClr val="2E363D"/>
                </a:solidFill>
              </a:rPr>
              <a:t>user and AI messages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D53DD-9424-46AE-B5EB-DA67B855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8E778-ABF1-47CA-AF52-5420AC8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719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chat_conversations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9EEAC-EEC3-40E2-AD0D-E164C1A5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4817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363D"/>
                </a:solidFill>
              </a:defRPr>
            </a:pPr>
            <a:r>
              <a:rPr sz="1350" b="0">
                <a:solidFill>
                  <a:srgbClr val="2E363D"/>
                </a:solidFill>
              </a:rPr>
              <a:t>saved chat sessions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AF150-9A29-4BE1-B7B5-69D82AA0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11745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2F838-BCAE-4CDB-92AE-923C910E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EF6AB-A866-4933-A5B7-F5B54064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Testing proves the key paths before viva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4E865-460F-46A7-B713-9764AC5E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95350" y="1885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bbb27cb4014ba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83B0C-E81A-4A4C-B9D0-1B81E747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B3DD4-B2AF-426E-93D9-53056E24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363D"/>
                </a:solidFill>
              </a:defRPr>
            </a:pPr>
            <a:r>
              <a:rPr sz="1725" b="0">
                <a:solidFill>
                  <a:srgbClr val="2E363D"/>
                </a:solidFill>
              </a:rPr>
              <a:t>17 backend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A3890-8E34-432E-BF97-A6144A35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57166-1E55-4A2E-9CB4-D3C8B3DB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479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363D"/>
                </a:solidFill>
              </a:defRPr>
            </a:pPr>
            <a:r>
              <a:rPr sz="1725" b="0">
                <a:solidFill>
                  <a:srgbClr val="2E363D"/>
                </a:solidFill>
              </a:rPr>
              <a:t>ESLint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A4A72-1077-464B-9772-F069F671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89AC5-131B-410C-8DFF-648C2645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04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363D"/>
                </a:solidFill>
              </a:defRPr>
            </a:pPr>
            <a:r>
              <a:rPr sz="1725" b="0">
                <a:solidFill>
                  <a:srgbClr val="2E363D"/>
                </a:solidFill>
              </a:rPr>
              <a:t>Typecheck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D701A-9346-4306-AA3B-25FCB2E7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2F3A7-6601-44B8-BEAF-6D2D8085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528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363D"/>
                </a:solidFill>
              </a:defRPr>
            </a:pPr>
            <a:r>
              <a:rPr sz="1725" b="0">
                <a:solidFill>
                  <a:srgbClr val="2E363D"/>
                </a:solidFill>
              </a:rPr>
              <a:t>Production build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C70F0-EABC-4FE9-AC83-363E56F9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7639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4463D-EFBC-4A09-BEAC-584BC6A4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98090-9693-4ABD-84A0-79C369D0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Limitations are handled with transparent fallback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8DA7F-1D35-4148-9338-F236FA4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47F06-D286-4934-8BFC-5CC98B83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</a:defRPr>
            </a:pPr>
            <a:r>
              <a:rPr sz="1950" b="1">
                <a:solidFill>
                  <a:srgbClr val="101418"/>
                </a:solidFill>
              </a:rPr>
              <a:t>Current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1C3CD-A479-4A12-830F-FF5BA2D7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444"/>
          </a:solidFill>
          <a:ln xmlns:a="http://schemas.openxmlformats.org/drawingml/2006/main" w="9525">
            <a:solidFill>
              <a:srgbClr val="B944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FD560-7841-40AF-8A31-E4823DB5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434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Public mandi API may not have every crop and district.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C83A8-1BFB-4B27-9155-524A35B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444"/>
          </a:solidFill>
          <a:ln xmlns:a="http://schemas.openxmlformats.org/drawingml/2006/main" w="9525">
            <a:solidFill>
              <a:srgbClr val="B944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AD2BD-9229-4B59-BC8A-26F07BD5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34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AI providers have rate limits and token costs.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C3E86-6B54-4577-A0EE-7FA7795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444"/>
          </a:solidFill>
          <a:ln xmlns:a="http://schemas.openxmlformats.org/drawingml/2006/main" w="9525">
            <a:solidFill>
              <a:srgbClr val="B9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F51E5-A148-475B-8573-FB5FD974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434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Advisory output cannot replace soil lab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A9F3F-C249-4C55-B917-7DFA362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</a:defRPr>
            </a:pPr>
            <a:r>
              <a:rPr sz="1950" b="1">
                <a:solidFill>
                  <a:srgbClr val="101418"/>
                </a:solidFill>
              </a:rPr>
              <a:t>Future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7B986-52D6-4EF8-890C-E2FD358C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60759-E13E-41B9-BB73-BFA5E173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Train ML model with historical yield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EB9D5-E0E7-456D-ACC8-369F2E9C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18862-4EA1-4B35-AE85-66A085F0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Pest image detection using computer vision.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E7A37-0EC0-4C2F-ABF6-19A4B111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1EBD7-8F7E-4F9C-8F19-00A80FE4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SMS or WhatsApp farmer alerts.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A2E26-5EA3-4CFD-9298-D517667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03184-B9B7-4786-BD08-03EE45B0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363D"/>
                </a:solidFill>
              </a:defRPr>
            </a:pPr>
            <a:r>
              <a:rPr sz="1500" b="0">
                <a:solidFill>
                  <a:srgbClr val="2E363D"/>
                </a:solidFill>
              </a:rPr>
              <a:t>Cloud database and secure login.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9BC74-7396-4FDA-A2EE-108682BD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10658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81627-B431-413A-886C-72727EE2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AGROPREDICT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1C548-0513-4680-8924-143B798B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Defend it as a reliable decision support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B9A91-1F49-4619-9438-A745D5AF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B"/>
          </a:solidFill>
          <a:ln xmlns:a="http://schemas.openxmlformats.org/drawingml/2006/main" w="9525">
            <a:solidFill>
              <a:srgbClr val="C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C4C1B-8FB9-4CDB-A021-D1D13E81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3589F-32AA-462B-89BE-E2162122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66875"/>
            <a:ext cx="977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363D"/>
                </a:solidFill>
              </a:defRPr>
            </a:pPr>
            <a:r>
              <a:rPr sz="1725" b="0">
                <a:solidFill>
                  <a:srgbClr val="2E363D"/>
                </a:solidFill>
              </a:rPr>
              <a:t>It is full-stack: React UI, Node backend, SQLite storage.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0C415-9AEB-4CDA-9160-928F4AE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C5496-1027-4EA6-9566-E5F7A1B7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19325"/>
            <a:ext cx="977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363D"/>
                </a:solidFill>
              </a:defRPr>
            </a:pPr>
            <a:r>
              <a:rPr sz="1725" b="0">
                <a:solidFill>
                  <a:srgbClr val="2E363D"/>
                </a:solidFill>
              </a:rPr>
              <a:t>It is AI-assisted: explainable crop scoring plus live LLM Kisan assistant.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E3443-4491-454D-8DAA-DFA71D4F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9900F-0B32-46C7-B967-AA8BCEA5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71775"/>
            <a:ext cx="977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363D"/>
                </a:solidFill>
              </a:defRPr>
            </a:pPr>
            <a:r>
              <a:rPr sz="1725" b="0">
                <a:solidFill>
                  <a:srgbClr val="2E363D"/>
                </a:solidFill>
              </a:rPr>
              <a:t>It uses real APIs: Open-Meteo, data.gov.in, OpenRouter, Hugging 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9837E-5A22-49A9-868B-61FC7A88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BA7D2-CE5E-450F-AF8B-2FD7610A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24225"/>
            <a:ext cx="977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363D"/>
                </a:solidFill>
              </a:defRPr>
            </a:pPr>
            <a:r>
              <a:rPr sz="1725" b="0">
                <a:solidFill>
                  <a:srgbClr val="2E363D"/>
                </a:solidFill>
              </a:rPr>
              <a:t>It is honest: live data is labeled; fallback estimates are clearly marked.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8A396-112C-40D4-BEA7-C385D0C0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9525">
            <a:solidFill>
              <a:srgbClr val="1F7A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F04C0-69E7-418D-81CD-645FA46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76675"/>
            <a:ext cx="977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E363D"/>
                </a:solidFill>
              </a:defRPr>
            </a:pPr>
            <a:r>
              <a:rPr sz="1725" b="0">
                <a:solidFill>
                  <a:srgbClr val="2E363D"/>
                </a:solidFill>
              </a:rPr>
              <a:t>It is tested: tests, lint, typecheck, and build all pass.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25202-7441-4B48-B0D4-10F8B785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Repository: github.com/ranaprithviraj59-hue/agropredict-ai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CEA8B-A87F-4275-B16E-A1458184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27D"/>
                </a:solidFill>
              </a:defRPr>
            </a:pPr>
            <a:r>
              <a:rPr sz="975" b="1">
                <a:solidFill>
                  <a:srgbClr val="68727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86023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2026-07-20T20:13:04.1290000Z</dcterms:created>
  <dcterms:modified xsi:type="dcterms:W3CDTF">2026-07-20T20:13:04.1290000Z</dcterms:modified>
</coreProperties>
</file>